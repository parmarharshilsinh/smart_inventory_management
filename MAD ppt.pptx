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7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548640"/>
            <a:ext cx="2834640" cy="2834640"/>
          </a:xfrm>
          <a:prstGeom prst="ellipse">
            <a:avLst/>
          </a:prstGeom>
          <a:solidFill>
            <a:srgbClr val="30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418320" y="3108960"/>
            <a:ext cx="2011680" cy="2011680"/>
          </a:xfrm>
          <a:prstGeom prst="ellipse">
            <a:avLst/>
          </a:prstGeom>
          <a:solidFill>
            <a:srgbClr val="23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0" y="4206240"/>
            <a:ext cx="1097280" cy="1097280"/>
          </a:xfrm>
          <a:prstGeom prst="ellipse">
            <a:avLst/>
          </a:prstGeom>
          <a:solidFill>
            <a:srgbClr val="F09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758952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SMART INVENTORY</a:t>
            </a:r>
          </a:p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69494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B1DCE6"/>
                </a:solidFill>
                <a:latin typeface="Aptos"/>
              </a:rPr>
              <a:t>Mobile Application with REST API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Mini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988" y="4162254"/>
            <a:ext cx="5971572" cy="116955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lvl="1"/>
            <a:r>
              <a:rPr lang="en-IN" sz="1400" b="0" dirty="0">
                <a:solidFill>
                  <a:srgbClr val="FFFFFF"/>
                </a:solidFill>
                <a:latin typeface="Aptos"/>
              </a:rPr>
              <a:t>Presented by:	</a:t>
            </a:r>
          </a:p>
          <a:p>
            <a:pPr lvl="1"/>
            <a:r>
              <a:rPr lang="en-IN" sz="1400" dirty="0">
                <a:solidFill>
                  <a:srgbClr val="FFFFFF"/>
                </a:solidFill>
                <a:latin typeface="Aptos"/>
              </a:rPr>
              <a:t>		    	</a:t>
            </a:r>
            <a:r>
              <a:rPr lang="en-US" sz="1400" dirty="0">
                <a:solidFill>
                  <a:schemeClr val="bg1"/>
                </a:solidFill>
                <a:latin typeface="Aptos"/>
              </a:rPr>
              <a:t>Nikunj</a:t>
            </a:r>
            <a:r>
              <a:rPr lang="en-US" sz="1400" dirty="0">
                <a:solidFill>
                  <a:schemeClr val="bg1"/>
                </a:solidFill>
              </a:rPr>
              <a:t> Khandala(12302080601084)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		  	Om Lad (12302080601090)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			Yash </a:t>
            </a:r>
            <a:r>
              <a:rPr lang="en-US" sz="1400" dirty="0" err="1">
                <a:solidFill>
                  <a:schemeClr val="bg1"/>
                </a:solidFill>
              </a:rPr>
              <a:t>Sitapara</a:t>
            </a:r>
            <a:r>
              <a:rPr lang="en-US" sz="1400" dirty="0">
                <a:solidFill>
                  <a:schemeClr val="bg1"/>
                </a:solidFill>
              </a:rPr>
              <a:t>(12302080601135)</a:t>
            </a:r>
          </a:p>
          <a:p>
            <a:pPr algn="l">
              <a:spcAft>
                <a:spcPts val="600"/>
              </a:spcAft>
            </a:pPr>
            <a:endParaRPr lang="en-IN" sz="14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5468112"/>
            <a:ext cx="5943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4CFDE"/>
                </a:solidFill>
                <a:latin typeface="Aptos"/>
              </a:rPr>
              <a:t>B.Tech Information Technology  |  ADIT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70448"/>
            <a:ext cx="731520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dirty="0">
                <a:solidFill>
                  <a:srgbClr val="C4CFDE"/>
                </a:solidFill>
                <a:latin typeface="Aptos"/>
              </a:rPr>
              <a:t>Guide:</a:t>
            </a:r>
            <a:r>
              <a:rPr lang="en-US" sz="1100" b="0" dirty="0">
                <a:solidFill>
                  <a:srgbClr val="C4CFDE"/>
                </a:solidFill>
                <a:latin typeface="Aptos"/>
              </a:rPr>
              <a:t> Prof.</a:t>
            </a:r>
            <a:r>
              <a:rPr sz="1100" b="0" dirty="0">
                <a:solidFill>
                  <a:srgbClr val="C4CFDE"/>
                </a:solidFill>
                <a:latin typeface="Aptos"/>
              </a:rPr>
              <a:t> </a:t>
            </a:r>
            <a:r>
              <a:rPr lang="en-US" sz="1100" dirty="0">
                <a:solidFill>
                  <a:srgbClr val="C4CFDE"/>
                </a:solidFill>
                <a:latin typeface="Aptos"/>
              </a:rPr>
              <a:t>Krunal Parel</a:t>
            </a:r>
            <a:r>
              <a:rPr sz="1100" b="0" dirty="0">
                <a:solidFill>
                  <a:srgbClr val="C4CFDE"/>
                </a:solidFill>
                <a:latin typeface="Aptos"/>
              </a:rPr>
              <a:t> •  Academic Year: </a:t>
            </a:r>
            <a:r>
              <a:rPr lang="en-US" sz="1100" dirty="0">
                <a:solidFill>
                  <a:srgbClr val="C4CFDE"/>
                </a:solidFill>
                <a:latin typeface="Aptos"/>
              </a:rPr>
              <a:t>2026-2027</a:t>
            </a:r>
            <a:endParaRPr sz="1100" b="0" dirty="0">
              <a:solidFill>
                <a:srgbClr val="C4CFD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21F37"/>
                </a:solidFill>
                <a:latin typeface="Aptos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64592"/>
            <a:ext cx="1600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3069D2"/>
                </a:solidFill>
                <a:latin typeface="Aptos"/>
              </a:rPr>
              <a:t>01 •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616E82"/>
                </a:solidFill>
                <a:latin typeface="Aptos"/>
              </a:rPr>
              <a:t>SMART INVENTORY MANAGEMENT  • 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16E82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106070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0">
                <a:solidFill>
                  <a:srgbClr val="242F41"/>
                </a:solidFill>
                <a:latin typeface="Aptos"/>
              </a:rPr>
              <a:t>A mobile-first system designed to help manage product records and stock movement through a structured application and backend API.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4028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240280"/>
            <a:ext cx="82296" cy="2148840"/>
          </a:xfrm>
          <a:prstGeom prst="rect">
            <a:avLst/>
          </a:prstGeom>
          <a:solidFill>
            <a:srgbClr val="30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404872"/>
            <a:ext cx="308152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Mobile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862072"/>
            <a:ext cx="3081528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42F41"/>
                </a:solidFill>
                <a:latin typeface="Aptos"/>
              </a:rPr>
              <a:t>React Native + Expo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42F41"/>
                </a:solidFill>
                <a:latin typeface="Aptos"/>
              </a:rPr>
              <a:t>Designed for inventory tasks on a phone.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24028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240280"/>
            <a:ext cx="82296" cy="2148840"/>
          </a:xfrm>
          <a:prstGeom prst="rect">
            <a:avLst/>
          </a:prstGeom>
          <a:solidFill>
            <a:srgbClr val="23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2404872"/>
            <a:ext cx="308152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Backend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862072"/>
            <a:ext cx="3081528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42F41"/>
                </a:solidFill>
                <a:latin typeface="Aptos"/>
              </a:rPr>
              <a:t>Java + Spring Boot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42F41"/>
                </a:solidFill>
                <a:latin typeface="Aptos"/>
              </a:rPr>
              <a:t>REST endpoints and business logic.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24028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2240280"/>
            <a:ext cx="82296" cy="2148840"/>
          </a:xfrm>
          <a:prstGeom prst="rect">
            <a:avLst/>
          </a:prstGeom>
          <a:solidFill>
            <a:srgbClr val="F09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2404872"/>
            <a:ext cx="308152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862072"/>
            <a:ext cx="3081528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42F41"/>
                </a:solidFill>
                <a:latin typeface="Aptos"/>
              </a:rPr>
              <a:t>MySQL 8.4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42F41"/>
                </a:solidFill>
                <a:latin typeface="Aptos"/>
              </a:rPr>
              <a:t>Persistent storage for inventory 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10058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121F37"/>
                </a:solidFill>
                <a:latin typeface="Aptos"/>
              </a:rPr>
              <a:t>Goal: make stock information easier to record, retrieve, and monitor.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21F37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64592"/>
            <a:ext cx="1600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3069D2"/>
                </a:solidFill>
                <a:latin typeface="Aptos"/>
              </a:rPr>
              <a:t>02 •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616E82"/>
                </a:solidFill>
                <a:latin typeface="Aptos"/>
              </a:rPr>
              <a:t>SMART INVENTORY MANAGEMENT  • 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16E82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7899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21F37"/>
                </a:solidFill>
                <a:latin typeface="Aptos"/>
              </a:rPr>
              <a:t>Manual or disconnected inventory tracking can make it difficult to keep stock information consistent and up to date.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34290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240280"/>
            <a:ext cx="82296" cy="2331720"/>
          </a:xfrm>
          <a:prstGeom prst="rect">
            <a:avLst/>
          </a:prstGeom>
          <a:solidFill>
            <a:srgbClr val="30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404872"/>
            <a:ext cx="308152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Stock Visibility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862072"/>
            <a:ext cx="3081528" cy="16001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42F41"/>
                </a:solidFill>
                <a:latin typeface="Aptos"/>
              </a:rPr>
              <a:t>Teams may not have one clear view of current product quantities.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240280"/>
            <a:ext cx="34290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240280"/>
            <a:ext cx="82296" cy="2331720"/>
          </a:xfrm>
          <a:prstGeom prst="rect">
            <a:avLst/>
          </a:prstGeom>
          <a:solidFill>
            <a:srgbClr val="F09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2404872"/>
            <a:ext cx="308152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Record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862072"/>
            <a:ext cx="3081528" cy="16001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42F41"/>
                </a:solidFill>
                <a:latin typeface="Aptos"/>
              </a:rPr>
              <a:t>Separate records can lead to duplicate entries or missed updates.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240280"/>
            <a:ext cx="34290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2240280"/>
            <a:ext cx="82296" cy="2331720"/>
          </a:xfrm>
          <a:prstGeom prst="rect">
            <a:avLst/>
          </a:prstGeom>
          <a:solidFill>
            <a:srgbClr val="23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2404872"/>
            <a:ext cx="308152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Time &amp; Traceability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862072"/>
            <a:ext cx="3081528" cy="16001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42F41"/>
                </a:solidFill>
                <a:latin typeface="Aptos"/>
              </a:rPr>
              <a:t>Finding changes and reviewing stock movement can take extra effort.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103327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>
                <a:solidFill>
                  <a:srgbClr val="242F41"/>
                </a:solidFill>
                <a:latin typeface="Aptos"/>
              </a:rPr>
              <a:t>Project response: centralize inventory workflows behind a mobile app and backend API.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21F37"/>
                </a:solidFill>
                <a:latin typeface="Aptos"/>
              </a:rPr>
              <a:t>Objectives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64592"/>
            <a:ext cx="1600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3069D2"/>
                </a:solidFill>
                <a:latin typeface="Aptos"/>
              </a:rPr>
              <a:t>03 •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616E82"/>
                </a:solidFill>
                <a:latin typeface="Aptos"/>
              </a:rPr>
              <a:t>SMART INVENTORY MANAGEMENT  • 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16E82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667512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buChar char="•"/>
              <a:defRPr sz="2000">
                <a:solidFill>
                  <a:srgbClr val="242F41"/>
                </a:solidFill>
                <a:latin typeface="Aptos"/>
              </a:defRPr>
            </a:pPr>
            <a:r>
              <a:t>Provide a mobile interface for common inventory tasks.</a:t>
            </a:r>
          </a:p>
          <a:p>
            <a:pPr>
              <a:buChar char="•"/>
              <a:defRPr sz="2000">
                <a:solidFill>
                  <a:srgbClr val="242F41"/>
                </a:solidFill>
                <a:latin typeface="Aptos"/>
              </a:defRPr>
            </a:pPr>
            <a:r>
              <a:t>Create a backend API to separate presentation from business logic.</a:t>
            </a:r>
          </a:p>
          <a:p>
            <a:pPr>
              <a:buChar char="•"/>
              <a:defRPr sz="2000">
                <a:solidFill>
                  <a:srgbClr val="242F41"/>
                </a:solidFill>
                <a:latin typeface="Aptos"/>
              </a:defRPr>
            </a:pPr>
            <a:r>
              <a:t>Store inventory information in a relational database.</a:t>
            </a:r>
          </a:p>
          <a:p>
            <a:pPr>
              <a:buChar char="•"/>
              <a:defRPr sz="2000">
                <a:solidFill>
                  <a:srgbClr val="242F41"/>
                </a:solidFill>
                <a:latin typeface="Aptos"/>
              </a:defRPr>
            </a:pPr>
            <a:r>
              <a:t>Support stock-related workflows with validation and useful error messages.</a:t>
            </a:r>
          </a:p>
          <a:p>
            <a:pPr>
              <a:buChar char="•"/>
              <a:defRPr sz="2000">
                <a:solidFill>
                  <a:srgbClr val="242F41"/>
                </a:solidFill>
                <a:latin typeface="Aptos"/>
              </a:defRPr>
            </a:pPr>
            <a:r>
              <a:t>Review authentication, role-based access, and API security where implemented.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41732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909560" y="1417320"/>
            <a:ext cx="82296" cy="1463040"/>
          </a:xfrm>
          <a:prstGeom prst="rect">
            <a:avLst/>
          </a:prstGeom>
          <a:solidFill>
            <a:srgbClr val="23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10728" y="1581912"/>
            <a:ext cx="303580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In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0728" y="2039112"/>
            <a:ext cx="3035808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42F41"/>
                </a:solidFill>
                <a:latin typeface="Aptos"/>
              </a:rPr>
              <a:t>Product and stock management workflows.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315468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09560" y="3154680"/>
            <a:ext cx="82296" cy="1463040"/>
          </a:xfrm>
          <a:prstGeom prst="rect">
            <a:avLst/>
          </a:prstGeom>
          <a:solidFill>
            <a:srgbClr val="30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10728" y="3319272"/>
            <a:ext cx="303580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Quality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0728" y="3776472"/>
            <a:ext cx="3035808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42F41"/>
                </a:solidFill>
                <a:latin typeface="Aptos"/>
              </a:rPr>
              <a:t>Validation, testing, security, and maintainability.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4892040"/>
            <a:ext cx="3383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09560" y="4892040"/>
            <a:ext cx="82296" cy="1005840"/>
          </a:xfrm>
          <a:prstGeom prst="rect">
            <a:avLst/>
          </a:prstGeom>
          <a:solidFill>
            <a:srgbClr val="F09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10728" y="5056631"/>
            <a:ext cx="303580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Note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8" y="5513831"/>
            <a:ext cx="303580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42F41"/>
                </a:solidFill>
                <a:latin typeface="Aptos"/>
              </a:rPr>
              <a:t>Confirm exact implemented features against source code.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21F37"/>
                </a:solidFill>
                <a:latin typeface="Aptos"/>
              </a:rPr>
              <a:t>Core Functional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64592"/>
            <a:ext cx="1600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3069D2"/>
                </a:solidFill>
                <a:latin typeface="Aptos"/>
              </a:rPr>
              <a:t>04 •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616E82"/>
                </a:solidFill>
                <a:latin typeface="Aptos"/>
              </a:rPr>
              <a:t>SMART INVENTORY MANAGEMENT  • 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16E82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325880"/>
            <a:ext cx="82296" cy="1600200"/>
          </a:xfrm>
          <a:prstGeom prst="rect">
            <a:avLst/>
          </a:prstGeom>
          <a:solidFill>
            <a:srgbClr val="30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490472"/>
            <a:ext cx="299008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47672"/>
            <a:ext cx="2990088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42F41"/>
                </a:solidFill>
                <a:latin typeface="Aptos"/>
              </a:rPr>
              <a:t>Sign-in and access control, subject to implementation verification.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3258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325880"/>
            <a:ext cx="82296" cy="1600200"/>
          </a:xfrm>
          <a:prstGeom prst="rect">
            <a:avLst/>
          </a:prstGeom>
          <a:solidFill>
            <a:srgbClr val="23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7" y="1490472"/>
            <a:ext cx="299008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Product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1947672"/>
            <a:ext cx="2990088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42F41"/>
                </a:solidFill>
                <a:latin typeface="Aptos"/>
              </a:rPr>
              <a:t>Create, view, update, and organize product information.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258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325880"/>
            <a:ext cx="82296" cy="1600200"/>
          </a:xfrm>
          <a:prstGeom prst="rect">
            <a:avLst/>
          </a:prstGeom>
          <a:solidFill>
            <a:srgbClr val="F09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8" y="1490472"/>
            <a:ext cx="299008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Stock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1947672"/>
            <a:ext cx="2990088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42F41"/>
                </a:solidFill>
                <a:latin typeface="Aptos"/>
              </a:rPr>
              <a:t>Record stock changes and maintain quantities.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42900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3429000"/>
            <a:ext cx="82296" cy="1600200"/>
          </a:xfrm>
          <a:prstGeom prst="rect">
            <a:avLst/>
          </a:prstGeom>
          <a:solidFill>
            <a:srgbClr val="279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" y="3593592"/>
            <a:ext cx="299008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050791"/>
            <a:ext cx="2990088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42F41"/>
                </a:solidFill>
                <a:latin typeface="Aptos"/>
              </a:rPr>
              <a:t>Summarize key inventory indicators where available.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42900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34840" y="3429000"/>
            <a:ext cx="82296" cy="1600200"/>
          </a:xfrm>
          <a:prstGeom prst="rect">
            <a:avLst/>
          </a:prstGeom>
          <a:solidFill>
            <a:srgbClr val="30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36007" y="3593592"/>
            <a:ext cx="299008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API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7" y="4050791"/>
            <a:ext cx="2990088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42F41"/>
                </a:solidFill>
                <a:latin typeface="Aptos"/>
              </a:rPr>
              <a:t>Connect the mobile client to backend REST services.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42900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38160" y="3429000"/>
            <a:ext cx="82296" cy="1600200"/>
          </a:xfrm>
          <a:prstGeom prst="rect">
            <a:avLst/>
          </a:prstGeom>
          <a:solidFill>
            <a:srgbClr val="C6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39328" y="3593592"/>
            <a:ext cx="299008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Error Handling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4050791"/>
            <a:ext cx="2990088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42F41"/>
                </a:solidFill>
                <a:latin typeface="Aptos"/>
              </a:rPr>
              <a:t>Validate input and present clear failure states.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21F37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64592"/>
            <a:ext cx="1600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3069D2"/>
                </a:solidFill>
                <a:latin typeface="Aptos"/>
              </a:rPr>
              <a:t>05 •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616E82"/>
                </a:solidFill>
                <a:latin typeface="Aptos"/>
              </a:rPr>
              <a:t>SMART INVENTORY MANAGEMENT  • 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16E82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5156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21F37"/>
                </a:solidFill>
                <a:latin typeface="Aptos"/>
              </a:rPr>
              <a:t>Three-layer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2834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30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7" y="1993392"/>
            <a:ext cx="26151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3069D2"/>
                </a:solidFill>
                <a:latin typeface="Aptos"/>
              </a:rPr>
              <a:t>MOBILE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2350008"/>
            <a:ext cx="26151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242F41"/>
                </a:solidFill>
                <a:latin typeface="Aptos"/>
              </a:rPr>
              <a:t>React Native + Expo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828800"/>
            <a:ext cx="2834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3A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73168" y="1993392"/>
            <a:ext cx="26151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3AEA3"/>
                </a:solidFill>
                <a:latin typeface="Aptos"/>
              </a:rPr>
              <a:t>REST API /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350008"/>
            <a:ext cx="26151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242F41"/>
                </a:solidFill>
                <a:latin typeface="Aptos"/>
              </a:rPr>
              <a:t>Java + Spring Boot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1828800"/>
            <a:ext cx="2834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09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67928" y="1993392"/>
            <a:ext cx="26151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09C42"/>
                </a:solidFill>
                <a:latin typeface="Aptos"/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7928" y="2350008"/>
            <a:ext cx="26151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242F41"/>
                </a:solidFill>
                <a:latin typeface="Aptos"/>
              </a:rPr>
              <a:t>MySQL 8.4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30752" y="2350008"/>
            <a:ext cx="859536" cy="0"/>
          </a:xfrm>
          <a:prstGeom prst="line">
            <a:avLst/>
          </a:prstGeom>
          <a:ln w="25400">
            <a:solidFill>
              <a:srgbClr val="616E82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525512" y="2350008"/>
            <a:ext cx="859536" cy="0"/>
          </a:xfrm>
          <a:prstGeom prst="line">
            <a:avLst/>
          </a:prstGeom>
          <a:ln w="25400">
            <a:solidFill>
              <a:srgbClr val="616E82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291840" y="306324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16E82"/>
                </a:solidFill>
                <a:latin typeface="Aptos"/>
              </a:rPr>
              <a:t>Request / response over HTTP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06324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16E82"/>
                </a:solidFill>
                <a:latin typeface="Aptos"/>
              </a:rPr>
              <a:t>Persistence and queries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069080"/>
            <a:ext cx="30632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" y="4069080"/>
            <a:ext cx="82296" cy="1280160"/>
          </a:xfrm>
          <a:prstGeom prst="rect">
            <a:avLst/>
          </a:prstGeom>
          <a:solidFill>
            <a:srgbClr val="30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15568" y="4233672"/>
            <a:ext cx="27157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Presentation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4690872"/>
            <a:ext cx="2715768" cy="5486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42F41"/>
                </a:solidFill>
                <a:latin typeface="Aptos"/>
              </a:rPr>
              <a:t>Screens, forms, navigation, API calls.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4069080"/>
            <a:ext cx="30632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0" y="4069080"/>
            <a:ext cx="82296" cy="1280160"/>
          </a:xfrm>
          <a:prstGeom prst="rect">
            <a:avLst/>
          </a:prstGeom>
          <a:solidFill>
            <a:srgbClr val="23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73168" y="4233672"/>
            <a:ext cx="27157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Application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3168" y="4690872"/>
            <a:ext cx="2715768" cy="5486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42F41"/>
                </a:solidFill>
                <a:latin typeface="Aptos"/>
              </a:rPr>
              <a:t>Validation, business rules, authorization.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069080"/>
            <a:ext cx="30632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29600" y="4069080"/>
            <a:ext cx="82296" cy="1280160"/>
          </a:xfrm>
          <a:prstGeom prst="rect">
            <a:avLst/>
          </a:prstGeom>
          <a:solidFill>
            <a:srgbClr val="F09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0768" y="4233672"/>
            <a:ext cx="27157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Data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0768" y="4690872"/>
            <a:ext cx="2715768" cy="5486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42F41"/>
                </a:solidFill>
                <a:latin typeface="Aptos"/>
              </a:rPr>
              <a:t>Relational records and persistence.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715000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16E82"/>
                </a:solidFill>
                <a:latin typeface="Aptos"/>
              </a:rPr>
              <a:t>Exact routes, entity relationships, and deployment settings should be confirmed from the repository.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21F37"/>
                </a:solidFill>
                <a:latin typeface="Aptos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64592"/>
            <a:ext cx="1600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3069D2"/>
                </a:solidFill>
                <a:latin typeface="Aptos"/>
              </a:rPr>
              <a:t>06 •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616E82"/>
                </a:solidFill>
                <a:latin typeface="Aptos"/>
              </a:rPr>
              <a:t>SMART INVENTORY MANAGEMENT  • 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16E82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7160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371600"/>
            <a:ext cx="82296" cy="1600200"/>
          </a:xfrm>
          <a:prstGeom prst="rect">
            <a:avLst/>
          </a:prstGeom>
          <a:solidFill>
            <a:srgbClr val="30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536192"/>
            <a:ext cx="289864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Mobile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993392"/>
            <a:ext cx="2898648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42F41"/>
                </a:solidFill>
                <a:latin typeface="Aptos"/>
              </a:rPr>
              <a:t>React Native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42F41"/>
                </a:solidFill>
                <a:latin typeface="Aptos"/>
              </a:rPr>
              <a:t>Expo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37160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82296" cy="1600200"/>
          </a:xfrm>
          <a:prstGeom prst="rect">
            <a:avLst/>
          </a:prstGeom>
          <a:solidFill>
            <a:srgbClr val="23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81728" y="1536192"/>
            <a:ext cx="289864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1993392"/>
            <a:ext cx="2898648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42F41"/>
                </a:solidFill>
                <a:latin typeface="Aptos"/>
              </a:rPr>
              <a:t>Java 21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42F41"/>
                </a:solidFill>
                <a:latin typeface="Aptos"/>
              </a:rPr>
              <a:t>Spring Boot 3.3.4*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37160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83879" y="1371600"/>
            <a:ext cx="82296" cy="1600200"/>
          </a:xfrm>
          <a:prstGeom prst="rect">
            <a:avLst/>
          </a:prstGeom>
          <a:solidFill>
            <a:srgbClr val="F09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85048" y="1536192"/>
            <a:ext cx="289864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1993392"/>
            <a:ext cx="2898648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42F41"/>
                </a:solidFill>
                <a:latin typeface="Aptos"/>
              </a:rPr>
              <a:t>MySQL 8.4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52044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3520440"/>
            <a:ext cx="82296" cy="1600200"/>
          </a:xfrm>
          <a:prstGeom prst="rect">
            <a:avLst/>
          </a:prstGeom>
          <a:solidFill>
            <a:srgbClr val="279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8408" y="3685032"/>
            <a:ext cx="289864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4142232"/>
            <a:ext cx="2898648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42F41"/>
                </a:solidFill>
                <a:latin typeface="Aptos"/>
              </a:rPr>
              <a:t>Maven 3.9.x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52044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80560" y="3520440"/>
            <a:ext cx="82296" cy="1600200"/>
          </a:xfrm>
          <a:prstGeom prst="rect">
            <a:avLst/>
          </a:prstGeom>
          <a:solidFill>
            <a:srgbClr val="30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81728" y="3685032"/>
            <a:ext cx="289864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4142232"/>
            <a:ext cx="2898648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42F41"/>
                </a:solidFill>
                <a:latin typeface="Aptos"/>
              </a:rPr>
              <a:t>REST / JSON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352044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83879" y="3520440"/>
            <a:ext cx="82296" cy="1600200"/>
          </a:xfrm>
          <a:prstGeom prst="rect">
            <a:avLst/>
          </a:prstGeom>
          <a:solidFill>
            <a:srgbClr val="C6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85048" y="3685032"/>
            <a:ext cx="289864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Testing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4142232"/>
            <a:ext cx="2898648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42F41"/>
                </a:solidFill>
                <a:latin typeface="Aptos"/>
              </a:rPr>
              <a:t>JUnit / Spring tests*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669280"/>
            <a:ext cx="10607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16E82"/>
                </a:solidFill>
                <a:latin typeface="Aptos"/>
              </a:rPr>
              <a:t>*Version details and test libraries should be checked against the current project files before final submission.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21F37"/>
                </a:solidFill>
                <a:latin typeface="Aptos"/>
              </a:rPr>
              <a:t>Database Design (Conceptual)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64592"/>
            <a:ext cx="1600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3069D2"/>
                </a:solidFill>
                <a:latin typeface="Aptos"/>
              </a:rPr>
              <a:t>07 •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616E82"/>
                </a:solidFill>
                <a:latin typeface="Aptos"/>
              </a:rPr>
              <a:t>SMART INVENTORY MANAGEMENT  • 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16E82"/>
                </a:solidFill>
                <a:latin typeface="Apto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21F37"/>
                </a:solidFill>
                <a:latin typeface="Aptos"/>
              </a:rPr>
              <a:t>A relational database supports consistent storage and retrieval of inventory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1965960"/>
            <a:ext cx="82296" cy="1828800"/>
          </a:xfrm>
          <a:prstGeom prst="rect">
            <a:avLst/>
          </a:prstGeom>
          <a:solidFill>
            <a:srgbClr val="30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130552"/>
            <a:ext cx="216712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587752"/>
            <a:ext cx="2167128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42F41"/>
                </a:solidFill>
                <a:latin typeface="Aptos"/>
              </a:rPr>
              <a:t>User ID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42F41"/>
                </a:solidFill>
                <a:latin typeface="Aptos"/>
              </a:rPr>
              <a:t>Name / login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42F41"/>
                </a:solidFill>
                <a:latin typeface="Aptos"/>
              </a:rPr>
              <a:t>Role / credentials metadata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96596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0" y="1965960"/>
            <a:ext cx="82296" cy="1828800"/>
          </a:xfrm>
          <a:prstGeom prst="rect">
            <a:avLst/>
          </a:prstGeom>
          <a:solidFill>
            <a:srgbClr val="23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58768" y="2130552"/>
            <a:ext cx="216712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PRODUCTS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2587752"/>
            <a:ext cx="2167128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42F41"/>
                </a:solidFill>
                <a:latin typeface="Aptos"/>
              </a:rPr>
              <a:t>Product ID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42F41"/>
                </a:solidFill>
                <a:latin typeface="Aptos"/>
              </a:rPr>
              <a:t>Name / SKU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42F41"/>
                </a:solidFill>
                <a:latin typeface="Aptos"/>
              </a:rPr>
              <a:t>Quantity / price fields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96596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92240" y="1965960"/>
            <a:ext cx="82296" cy="1828800"/>
          </a:xfrm>
          <a:prstGeom prst="rect">
            <a:avLst/>
          </a:prstGeom>
          <a:solidFill>
            <a:srgbClr val="F09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93407" y="2130552"/>
            <a:ext cx="216712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CATEGORIES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7" y="2587752"/>
            <a:ext cx="2167128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42F41"/>
                </a:solidFill>
                <a:latin typeface="Aptos"/>
              </a:rPr>
              <a:t>Category ID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42F41"/>
                </a:solidFill>
                <a:latin typeface="Aptos"/>
              </a:rPr>
              <a:t>Category name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42F41"/>
                </a:solidFill>
                <a:latin typeface="Aptos"/>
              </a:rPr>
              <a:t>Product grouping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965960"/>
            <a:ext cx="2057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326880" y="1965960"/>
            <a:ext cx="82296" cy="1828800"/>
          </a:xfrm>
          <a:prstGeom prst="rect">
            <a:avLst/>
          </a:prstGeom>
          <a:solidFill>
            <a:srgbClr val="279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28048" y="2130552"/>
            <a:ext cx="170992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STOCK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8048" y="2587752"/>
            <a:ext cx="1709928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42F41"/>
                </a:solidFill>
                <a:latin typeface="Aptos"/>
              </a:rPr>
              <a:t>Movement ID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42F41"/>
                </a:solidFill>
                <a:latin typeface="Aptos"/>
              </a:rPr>
              <a:t>Product reference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42F41"/>
                </a:solidFill>
                <a:latin typeface="Aptos"/>
              </a:rPr>
              <a:t>Change / timestamp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242F41"/>
                </a:solidFill>
                <a:latin typeface="Aptos"/>
              </a:rPr>
              <a:t>Conceptual entities only — the actual schema, column names, constraints, and relationships must be verified in the code/database.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303520"/>
            <a:ext cx="10332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3069D2"/>
                </a:solidFill>
                <a:latin typeface="Aptos"/>
              </a:rPr>
              <a:t>Design checks: primary keys • foreign keys • indexes • validation • safe credential storage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21F37"/>
                </a:solidFill>
                <a:latin typeface="Aptos"/>
              </a:rPr>
              <a:t>Typical Inventory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64592"/>
            <a:ext cx="1600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3069D2"/>
                </a:solidFill>
                <a:latin typeface="Aptos"/>
              </a:rPr>
              <a:t>08 •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616E82"/>
                </a:solidFill>
                <a:latin typeface="Aptos"/>
              </a:rPr>
              <a:t>SMART INVENTORY MANAGEMENT  • 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16E82"/>
                </a:solidFill>
                <a:latin typeface="Aptos"/>
              </a:rPr>
              <a:t>09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325880"/>
            <a:ext cx="566928" cy="566928"/>
          </a:xfrm>
          <a:prstGeom prst="ellipse">
            <a:avLst/>
          </a:prstGeom>
          <a:solidFill>
            <a:srgbClr val="30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62456"/>
            <a:ext cx="5669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371600"/>
            <a:ext cx="2651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21F37"/>
                </a:solidFill>
                <a:latin typeface="Aptos"/>
              </a:rPr>
              <a:t>Open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764792"/>
            <a:ext cx="26974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42F41"/>
                </a:solidFill>
                <a:latin typeface="Aptos"/>
              </a:rPr>
              <a:t>User opens the mobile application.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4526280" y="1325880"/>
            <a:ext cx="566928" cy="566928"/>
          </a:xfrm>
          <a:prstGeom prst="ellipse">
            <a:avLst/>
          </a:prstGeom>
          <a:solidFill>
            <a:srgbClr val="23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362456"/>
            <a:ext cx="5669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9512" y="1371600"/>
            <a:ext cx="2651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21F37"/>
                </a:solidFill>
                <a:latin typeface="Aptos"/>
              </a:rPr>
              <a:t>Authenticate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9512" y="1764792"/>
            <a:ext cx="26974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42F41"/>
                </a:solidFill>
                <a:latin typeface="Aptos"/>
              </a:rPr>
              <a:t>User signs in if authentication is enabled.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0" y="1325880"/>
            <a:ext cx="566928" cy="566928"/>
          </a:xfrm>
          <a:prstGeom prst="ellipse">
            <a:avLst/>
          </a:prstGeom>
          <a:solidFill>
            <a:srgbClr val="F09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1362456"/>
            <a:ext cx="5669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1" y="1371600"/>
            <a:ext cx="2651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21F37"/>
                </a:solidFill>
                <a:latin typeface="Aptos"/>
              </a:rPr>
              <a:t>Choose task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1" y="1764792"/>
            <a:ext cx="26974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42F41"/>
                </a:solidFill>
                <a:latin typeface="Aptos"/>
              </a:rPr>
              <a:t>Open products, stock, or dashboard.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474720"/>
            <a:ext cx="566928" cy="566928"/>
          </a:xfrm>
          <a:prstGeom prst="ellipse">
            <a:avLst/>
          </a:prstGeom>
          <a:solidFill>
            <a:srgbClr val="279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511296"/>
            <a:ext cx="5669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3520439"/>
            <a:ext cx="2651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21F37"/>
                </a:solidFill>
                <a:latin typeface="Aptos"/>
              </a:rPr>
              <a:t>Submit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913631"/>
            <a:ext cx="26974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42F41"/>
                </a:solidFill>
                <a:latin typeface="Aptos"/>
              </a:rPr>
              <a:t>Form data is validated and sent to the API.</a:t>
            </a:r>
          </a:p>
        </p:txBody>
      </p:sp>
      <p:sp>
        <p:nvSpPr>
          <p:cNvPr id="23" name="Oval 22"/>
          <p:cNvSpPr/>
          <p:nvPr/>
        </p:nvSpPr>
        <p:spPr>
          <a:xfrm>
            <a:off x="4526280" y="3474720"/>
            <a:ext cx="566928" cy="566928"/>
          </a:xfrm>
          <a:prstGeom prst="ellipse">
            <a:avLst/>
          </a:prstGeom>
          <a:solidFill>
            <a:srgbClr val="30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26280" y="3511296"/>
            <a:ext cx="5669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9512" y="3520439"/>
            <a:ext cx="2651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21F37"/>
                </a:solidFill>
                <a:latin typeface="Aptos"/>
              </a:rPr>
              <a:t>Process request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9512" y="3913631"/>
            <a:ext cx="26974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42F41"/>
                </a:solidFill>
                <a:latin typeface="Aptos"/>
              </a:rPr>
              <a:t>Backend applies business rules and authorization.</a:t>
            </a:r>
          </a:p>
        </p:txBody>
      </p:sp>
      <p:sp>
        <p:nvSpPr>
          <p:cNvPr id="27" name="Oval 26"/>
          <p:cNvSpPr/>
          <p:nvPr/>
        </p:nvSpPr>
        <p:spPr>
          <a:xfrm>
            <a:off x="8412480" y="3474720"/>
            <a:ext cx="566928" cy="566928"/>
          </a:xfrm>
          <a:prstGeom prst="ellipse">
            <a:avLst/>
          </a:prstGeom>
          <a:solidFill>
            <a:srgbClr val="23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0" y="3511296"/>
            <a:ext cx="5669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5711" y="3520439"/>
            <a:ext cx="2651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21F37"/>
                </a:solidFill>
                <a:latin typeface="Aptos"/>
              </a:rPr>
              <a:t>Save &amp; respond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5711" y="3913631"/>
            <a:ext cx="26974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42F41"/>
                </a:solidFill>
                <a:latin typeface="Aptos"/>
              </a:rPr>
              <a:t>Database updates; app displays success or error.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715000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16E82"/>
                </a:solidFill>
                <a:latin typeface="Aptos"/>
              </a:rPr>
              <a:t>Use the actual app to demonstrate one successful flow and one validation/error flow.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21F37"/>
                </a:solidFill>
                <a:latin typeface="Aptos"/>
              </a:rPr>
              <a:t>Mobile UI &amp;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64592"/>
            <a:ext cx="1600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3069D2"/>
                </a:solidFill>
                <a:latin typeface="Aptos"/>
              </a:rPr>
              <a:t>09 •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616E82"/>
                </a:solidFill>
                <a:latin typeface="Aptos"/>
              </a:rPr>
              <a:t>SMART INVENTORY MANAGEMENT  • 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16E82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82296" cy="1828800"/>
          </a:xfrm>
          <a:prstGeom prst="rect">
            <a:avLst/>
          </a:prstGeom>
          <a:solidFill>
            <a:srgbClr val="30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581912"/>
            <a:ext cx="303580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Navigation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039112"/>
            <a:ext cx="3035808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42F41"/>
                </a:solidFill>
                <a:latin typeface="Aptos"/>
              </a:rPr>
              <a:t>Keep key actions easy to reach; use clear labels and consistent screen structure.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417320"/>
            <a:ext cx="82296" cy="1828800"/>
          </a:xfrm>
          <a:prstGeom prst="rect">
            <a:avLst/>
          </a:prstGeom>
          <a:solidFill>
            <a:srgbClr val="23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7" y="1581912"/>
            <a:ext cx="303580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Forms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039112"/>
            <a:ext cx="3035808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42F41"/>
                </a:solidFill>
                <a:latin typeface="Aptos"/>
              </a:rPr>
              <a:t>Use required-field checks, helpful hints, and input validation.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417320"/>
            <a:ext cx="82296" cy="1828800"/>
          </a:xfrm>
          <a:prstGeom prst="rect">
            <a:avLst/>
          </a:prstGeom>
          <a:solidFill>
            <a:srgbClr val="F09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1581912"/>
            <a:ext cx="303580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039112"/>
            <a:ext cx="3035808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42F41"/>
                </a:solidFill>
                <a:latin typeface="Aptos"/>
              </a:rPr>
              <a:t>Show loading, success, empty, offline, and error states.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79476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21F37"/>
                </a:solidFill>
                <a:latin typeface="Aptos"/>
              </a:rPr>
              <a:t>Suggested navigation 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51960"/>
            <a:ext cx="5212080" cy="1645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buChar char="•"/>
              <a:defRPr sz="1400">
                <a:solidFill>
                  <a:srgbClr val="242F41"/>
                </a:solidFill>
                <a:latin typeface="Aptos"/>
              </a:defRPr>
            </a:pPr>
            <a:r>
              <a:t>Login (if enabled)</a:t>
            </a:r>
          </a:p>
          <a:p>
            <a:pPr>
              <a:buChar char="•"/>
              <a:defRPr sz="1400">
                <a:solidFill>
                  <a:srgbClr val="242F41"/>
                </a:solidFill>
                <a:latin typeface="Aptos"/>
              </a:defRPr>
            </a:pPr>
            <a:r>
              <a:t>Dashboard</a:t>
            </a:r>
          </a:p>
          <a:p>
            <a:pPr>
              <a:buChar char="•"/>
              <a:defRPr sz="1400">
                <a:solidFill>
                  <a:srgbClr val="242F41"/>
                </a:solidFill>
                <a:latin typeface="Aptos"/>
              </a:defRPr>
            </a:pPr>
            <a:r>
              <a:t>Products / Product Details</a:t>
            </a:r>
          </a:p>
          <a:p>
            <a:pPr>
              <a:buChar char="•"/>
              <a:defRPr sz="1400">
                <a:solidFill>
                  <a:srgbClr val="242F41"/>
                </a:solidFill>
                <a:latin typeface="Aptos"/>
              </a:defRPr>
            </a:pPr>
            <a:r>
              <a:t>Stock In / Stock Out</a:t>
            </a:r>
          </a:p>
          <a:p>
            <a:pPr>
              <a:buChar char="•"/>
              <a:defRPr sz="1400">
                <a:solidFill>
                  <a:srgbClr val="242F41"/>
                </a:solidFill>
                <a:latin typeface="Aptos"/>
              </a:defRPr>
            </a:pPr>
            <a:r>
              <a:t>Profile / Settings (if available)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43400"/>
            <a:ext cx="4389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16E82"/>
                </a:solidFill>
                <a:latin typeface="Aptos"/>
              </a:rPr>
              <a:t>Screens listed are a design checklist, not a claim that every screen already exists.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21F37"/>
                </a:solidFill>
                <a:latin typeface="Aptos"/>
              </a:rPr>
              <a:t>Security &amp;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64592"/>
            <a:ext cx="1600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3069D2"/>
                </a:solidFill>
                <a:latin typeface="Aptos"/>
              </a:rPr>
              <a:t>10 •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616E82"/>
                </a:solidFill>
                <a:latin typeface="Aptos"/>
              </a:rPr>
              <a:t>SMART INVENTORY MANAGEMENT  • 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16E82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7132320" cy="4754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buChar char="•"/>
              <a:defRPr sz="1700">
                <a:solidFill>
                  <a:srgbClr val="242F41"/>
                </a:solidFill>
                <a:latin typeface="Aptos"/>
              </a:defRPr>
            </a:pPr>
            <a:r>
              <a:t>Authentication: verify login/session handling and token expiry.</a:t>
            </a:r>
          </a:p>
          <a:p>
            <a:pPr>
              <a:buChar char="•"/>
              <a:defRPr sz="1700">
                <a:solidFill>
                  <a:srgbClr val="242F41"/>
                </a:solidFill>
                <a:latin typeface="Aptos"/>
              </a:defRPr>
            </a:pPr>
            <a:r>
              <a:t>Authorization: enforce roles and permissions on the backend, not only in the UI.</a:t>
            </a:r>
          </a:p>
          <a:p>
            <a:pPr>
              <a:buChar char="•"/>
              <a:defRPr sz="1700">
                <a:solidFill>
                  <a:srgbClr val="242F41"/>
                </a:solidFill>
                <a:latin typeface="Aptos"/>
              </a:defRPr>
            </a:pPr>
            <a:r>
              <a:t>Input validation: validate request bodies, IDs, quantities, and business rules.</a:t>
            </a:r>
          </a:p>
          <a:p>
            <a:pPr>
              <a:buChar char="•"/>
              <a:defRPr sz="1700">
                <a:solidFill>
                  <a:srgbClr val="242F41"/>
                </a:solidFill>
                <a:latin typeface="Aptos"/>
              </a:defRPr>
            </a:pPr>
            <a:r>
              <a:t>Secrets: keep database credentials and signing keys out of source control.</a:t>
            </a:r>
          </a:p>
          <a:p>
            <a:pPr>
              <a:buChar char="•"/>
              <a:defRPr sz="1700">
                <a:solidFill>
                  <a:srgbClr val="242F41"/>
                </a:solidFill>
                <a:latin typeface="Aptos"/>
              </a:defRPr>
            </a:pPr>
            <a:r>
              <a:t>Error responses: return safe, consistent messages without leaking stack traces.</a:t>
            </a:r>
          </a:p>
          <a:p>
            <a:pPr>
              <a:buChar char="•"/>
              <a:defRPr sz="1700">
                <a:solidFill>
                  <a:srgbClr val="242F41"/>
                </a:solidFill>
                <a:latin typeface="Aptos"/>
              </a:defRPr>
            </a:pPr>
            <a:r>
              <a:t>Database: use parameterized access and least-privilege credentials.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600200"/>
            <a:ext cx="30632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0" y="1600200"/>
            <a:ext cx="82296" cy="1600200"/>
          </a:xfrm>
          <a:prstGeom prst="rect">
            <a:avLst/>
          </a:prstGeom>
          <a:solidFill>
            <a:srgbClr val="C6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30768" y="1764792"/>
            <a:ext cx="27157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Known Setup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0768" y="2221992"/>
            <a:ext cx="2715768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42F41"/>
                </a:solidFill>
                <a:latin typeface="Aptos"/>
              </a:rPr>
              <a:t>A prior backend startup attempt reported MySQL access denied for root.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566160"/>
            <a:ext cx="30632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3566160"/>
            <a:ext cx="82296" cy="1600200"/>
          </a:xfrm>
          <a:prstGeom prst="rect">
            <a:avLst/>
          </a:prstGeom>
          <a:solidFill>
            <a:srgbClr val="23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0768" y="3730752"/>
            <a:ext cx="27157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Before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4187952"/>
            <a:ext cx="2715768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42F41"/>
                </a:solidFill>
                <a:latin typeface="Aptos"/>
              </a:rPr>
              <a:t>Confirm DB config, environment variables, and service status.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97880"/>
            <a:ext cx="10332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C64D4D"/>
                </a:solidFill>
                <a:latin typeface="Aptos"/>
              </a:rPr>
              <a:t>Never fix database login errors by disabling authentication or hard-coding secrets.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21F37"/>
                </a:solidFill>
                <a:latin typeface="Aptos"/>
              </a:rPr>
              <a:t>Testing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64592"/>
            <a:ext cx="1600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3069D2"/>
                </a:solidFill>
                <a:latin typeface="Aptos"/>
              </a:rPr>
              <a:t>11 •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616E82"/>
                </a:solidFill>
                <a:latin typeface="Aptos"/>
              </a:rPr>
              <a:t>SMART INVENTORY MANAGEMENT  • 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16E82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49377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21F37"/>
                </a:solidFill>
                <a:latin typeface="Aptos"/>
              </a:rPr>
              <a:t>Historical backend test result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30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2331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3069D2"/>
                </a:solidFill>
                <a:latin typeface="Aptos"/>
              </a:rP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78608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42F41"/>
                </a:solidFill>
                <a:latin typeface="Aptos"/>
              </a:rPr>
              <a:t>Tests 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79" y="182880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79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79" y="1965960"/>
            <a:ext cx="2331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279968"/>
                </a:solidFill>
                <a:latin typeface="Aptos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79" y="2578608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42F41"/>
                </a:solidFill>
                <a:latin typeface="Aptos"/>
              </a:rPr>
              <a:t>Failures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3A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965960"/>
            <a:ext cx="2331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23AEA3"/>
                </a:solidFill>
                <a:latin typeface="Aptos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78608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42F41"/>
                </a:solidFill>
                <a:latin typeface="Aptos"/>
              </a:rPr>
              <a:t>Errors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19" y="182880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09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89719" y="1965960"/>
            <a:ext cx="2331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09C42"/>
                </a:solidFill>
                <a:latin typeface="Aptos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19" y="2578608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42F41"/>
                </a:solidFill>
                <a:latin typeface="Aptos"/>
              </a:rPr>
              <a:t>Skipped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429000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79968"/>
                </a:solidFill>
                <a:latin typeface="Aptos"/>
              </a:rPr>
              <a:t>Reported as BUILD SUCCESS in an earlier test run.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977639"/>
            <a:ext cx="10241280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buChar char="•"/>
              <a:defRPr sz="1500">
                <a:solidFill>
                  <a:srgbClr val="242F41"/>
                </a:solidFill>
                <a:latin typeface="Aptos"/>
              </a:defRPr>
            </a:pPr>
            <a:r>
              <a:t>Re-run tests on the final submitted version.</a:t>
            </a:r>
          </a:p>
          <a:p>
            <a:pPr>
              <a:buChar char="•"/>
              <a:defRPr sz="1500">
                <a:solidFill>
                  <a:srgbClr val="242F41"/>
                </a:solidFill>
                <a:latin typeface="Aptos"/>
              </a:defRPr>
            </a:pPr>
            <a:r>
              <a:t>Test valid and invalid login flows, role restrictions, product CRUD, stock changes, and API failures.</a:t>
            </a:r>
          </a:p>
          <a:p>
            <a:pPr>
              <a:buChar char="•"/>
              <a:defRPr sz="1500">
                <a:solidFill>
                  <a:srgbClr val="242F41"/>
                </a:solidFill>
                <a:latin typeface="Aptos"/>
              </a:defRPr>
            </a:pPr>
            <a:r>
              <a:t>Test database connectivity and the full app → API → database path.</a:t>
            </a:r>
          </a:p>
          <a:p>
            <a:pPr>
              <a:buChar char="•"/>
              <a:defRPr sz="1500">
                <a:solidFill>
                  <a:srgbClr val="242F41"/>
                </a:solidFill>
                <a:latin typeface="Aptos"/>
              </a:defRPr>
            </a:pPr>
            <a:r>
              <a:t>Record test date, environment, actual result, and evidence in the test log.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989320"/>
            <a:ext cx="102412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16E82"/>
                </a:solidFill>
                <a:latin typeface="Aptos"/>
              </a:rPr>
              <a:t>The historical result is not a guarantee that the current code or mobile app has been fully tested.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21F37"/>
                </a:solidFill>
                <a:latin typeface="Aptos"/>
              </a:rPr>
              <a:t>Current Status &amp; Open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64592"/>
            <a:ext cx="1600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3069D2"/>
                </a:solidFill>
                <a:latin typeface="Aptos"/>
              </a:rPr>
              <a:t>12 •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616E82"/>
                </a:solidFill>
                <a:latin typeface="Aptos"/>
              </a:rPr>
              <a:t>SMART INVENTORY MANAGEMENT  • 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16E82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325880"/>
            <a:ext cx="82296" cy="1828800"/>
          </a:xfrm>
          <a:prstGeom prst="rect">
            <a:avLst/>
          </a:prstGeom>
          <a:solidFill>
            <a:srgbClr val="279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490472"/>
            <a:ext cx="308152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Verified Previously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947672"/>
            <a:ext cx="3081528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42F41"/>
                </a:solidFill>
                <a:latin typeface="Aptos"/>
              </a:rPr>
              <a:t>Backend test suite passed: 25 tests, 0 failures/errors in a prior run.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258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325880"/>
            <a:ext cx="82296" cy="1828800"/>
          </a:xfrm>
          <a:prstGeom prst="rect">
            <a:avLst/>
          </a:prstGeom>
          <a:solidFill>
            <a:srgbClr val="C6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490472"/>
            <a:ext cx="308152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Needs Re-check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947672"/>
            <a:ext cx="3081528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42F41"/>
                </a:solidFill>
                <a:latin typeface="Aptos"/>
              </a:rPr>
              <a:t>Live backend startup had a MySQL root authentication error.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3258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1325880"/>
            <a:ext cx="82296" cy="1828800"/>
          </a:xfrm>
          <a:prstGeom prst="rect">
            <a:avLst/>
          </a:prstGeom>
          <a:solidFill>
            <a:srgbClr val="F09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02168" y="1490472"/>
            <a:ext cx="308152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Confirm in Repository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1947672"/>
            <a:ext cx="3081528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42F41"/>
                </a:solidFill>
                <a:latin typeface="Aptos"/>
              </a:rPr>
              <a:t>Actual API routes, schema, mobile screens, and implemented RBAC.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749039"/>
            <a:ext cx="3840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21F37"/>
                </a:solidFill>
                <a:latin typeface="Aptos"/>
              </a:rPr>
              <a:t>Before final submission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06240"/>
            <a:ext cx="10058400" cy="1645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buChar char="•"/>
              <a:defRPr sz="1500">
                <a:solidFill>
                  <a:srgbClr val="242F41"/>
                </a:solidFill>
                <a:latin typeface="Aptos"/>
              </a:defRPr>
            </a:pPr>
            <a:r>
              <a:t>Run the app and backend from a clean setup.</a:t>
            </a:r>
          </a:p>
          <a:p>
            <a:pPr>
              <a:buChar char="•"/>
              <a:defRPr sz="1500">
                <a:solidFill>
                  <a:srgbClr val="242F41"/>
                </a:solidFill>
                <a:latin typeface="Aptos"/>
              </a:defRPr>
            </a:pPr>
            <a:r>
              <a:t>Confirm API base URL and database connection settings.</a:t>
            </a:r>
          </a:p>
          <a:p>
            <a:pPr>
              <a:buChar char="•"/>
              <a:defRPr sz="1500">
                <a:solidFill>
                  <a:srgbClr val="242F41"/>
                </a:solidFill>
                <a:latin typeface="Aptos"/>
              </a:defRPr>
            </a:pPr>
            <a:r>
              <a:t>Remove unused code and resolve build/runtime errors.</a:t>
            </a:r>
          </a:p>
          <a:p>
            <a:pPr>
              <a:buChar char="•"/>
              <a:defRPr sz="1500">
                <a:solidFill>
                  <a:srgbClr val="242F41"/>
                </a:solidFill>
                <a:latin typeface="Aptos"/>
              </a:defRPr>
            </a:pPr>
            <a:r>
              <a:t>Replace placeholders on the title slide and add real screenshots.</a:t>
            </a:r>
          </a:p>
          <a:p>
            <a:pPr>
              <a:buChar char="•"/>
              <a:defRPr sz="1500">
                <a:solidFill>
                  <a:srgbClr val="242F41"/>
                </a:solidFill>
                <a:latin typeface="Aptos"/>
              </a:defRPr>
            </a:pPr>
            <a:r>
              <a:t>Update the project report and test log with final evidence.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21F37"/>
                </a:solidFill>
                <a:latin typeface="Aptos"/>
              </a:rP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64592"/>
            <a:ext cx="1600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3069D2"/>
                </a:solidFill>
                <a:latin typeface="Aptos"/>
              </a:rPr>
              <a:t>13 •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616E82"/>
                </a:solidFill>
                <a:latin typeface="Aptos"/>
              </a:rPr>
              <a:t>SMART INVENTORY MANAGEMENT  • 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16E82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417320"/>
            <a:ext cx="82296" cy="1691640"/>
          </a:xfrm>
          <a:prstGeom prst="rect">
            <a:avLst/>
          </a:prstGeom>
          <a:solidFill>
            <a:srgbClr val="30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581912"/>
            <a:ext cx="303580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Low-Stock Alerts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039112"/>
            <a:ext cx="3035808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42F41"/>
                </a:solidFill>
                <a:latin typeface="Aptos"/>
              </a:rPr>
              <a:t>Notify users when items reach a defined threshold.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1732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417320"/>
            <a:ext cx="82296" cy="1691640"/>
          </a:xfrm>
          <a:prstGeom prst="rect">
            <a:avLst/>
          </a:prstGeom>
          <a:solidFill>
            <a:srgbClr val="23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7" y="1581912"/>
            <a:ext cx="303580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Barcode Scanning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039112"/>
            <a:ext cx="3035808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42F41"/>
                </a:solidFill>
                <a:latin typeface="Aptos"/>
              </a:rPr>
              <a:t>Speed up product lookup and stock operations.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82296" cy="1691640"/>
          </a:xfrm>
          <a:prstGeom prst="rect">
            <a:avLst/>
          </a:prstGeom>
          <a:solidFill>
            <a:srgbClr val="F09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581912"/>
            <a:ext cx="303580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Reports &amp; 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039112"/>
            <a:ext cx="3035808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42F41"/>
                </a:solidFill>
                <a:latin typeface="Aptos"/>
              </a:rPr>
              <a:t>Provide date-range summaries and CSV/PDF exports.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52044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" y="3520440"/>
            <a:ext cx="82296" cy="1691640"/>
          </a:xfrm>
          <a:prstGeom prst="rect">
            <a:avLst/>
          </a:prstGeom>
          <a:solidFill>
            <a:srgbClr val="279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4128" y="3685032"/>
            <a:ext cx="303580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Offline Resilience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4142232"/>
            <a:ext cx="3035808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42F41"/>
                </a:solidFill>
                <a:latin typeface="Aptos"/>
              </a:rPr>
              <a:t>Handle weak connectivity and retry safe requests.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52044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34840" y="3520440"/>
            <a:ext cx="82296" cy="1691640"/>
          </a:xfrm>
          <a:prstGeom prst="rect">
            <a:avLst/>
          </a:prstGeom>
          <a:solidFill>
            <a:srgbClr val="30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36007" y="3685032"/>
            <a:ext cx="303580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Audit Trail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7" y="4142232"/>
            <a:ext cx="3035808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42F41"/>
                </a:solidFill>
                <a:latin typeface="Aptos"/>
              </a:rPr>
              <a:t>Track who changed stock and when.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52044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46720" y="3520440"/>
            <a:ext cx="82296" cy="1691640"/>
          </a:xfrm>
          <a:prstGeom prst="rect">
            <a:avLst/>
          </a:prstGeom>
          <a:solidFill>
            <a:srgbClr val="23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47888" y="3685032"/>
            <a:ext cx="303580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F37"/>
                </a:solidFill>
                <a:latin typeface="Aptos"/>
              </a:rPr>
              <a:t>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4142232"/>
            <a:ext cx="3035808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42F41"/>
                </a:solidFill>
                <a:latin typeface="Aptos"/>
              </a:rPr>
              <a:t>Use managed secrets, backups, monitoring, and HTTPS.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36576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737360"/>
            <a:ext cx="987552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DCE7F3"/>
                </a:solidFill>
                <a:latin typeface="Aptos"/>
              </a:rPr>
              <a:t>Smart Inventory Management aims to connect a mobile experience, backend business logic, and reliable data storage in one maintainable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337560"/>
            <a:ext cx="2377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6BE0D0"/>
                </a:solidFill>
                <a:latin typeface="Aptos"/>
              </a:rPr>
              <a:t>Key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94760"/>
            <a:ext cx="9875520" cy="6771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dirty="0">
                <a:solidFill>
                  <a:srgbClr val="FFFFFF"/>
                </a:solidFill>
                <a:latin typeface="Aptos"/>
              </a:rPr>
              <a:t>A successful inventory solution is not only about screens it also needs accurate stock rules, secure APIs, tested workflows, and dependable database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4244013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519422" y="2497976"/>
            <a:ext cx="7153155" cy="1862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sz="11500" b="1" dirty="0">
                <a:solidFill>
                  <a:srgbClr val="6BE0D0"/>
                </a:solidFill>
                <a:latin typeface="Aptos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91555" y="4129191"/>
            <a:ext cx="3738045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C4CFDE"/>
                </a:solidFill>
                <a:latin typeface="Aptos"/>
              </a:rP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1323</Words>
  <Application>Microsoft Office PowerPoint</Application>
  <PresentationFormat>Widescreen</PresentationFormat>
  <Paragraphs>242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Nikunj</dc:creator>
  <cp:keywords/>
  <dc:description>generated using python-pptx</dc:description>
  <cp:lastModifiedBy>Nikunj Khandala</cp:lastModifiedBy>
  <cp:revision>4</cp:revision>
  <dcterms:created xsi:type="dcterms:W3CDTF">2013-01-27T09:14:16Z</dcterms:created>
  <dcterms:modified xsi:type="dcterms:W3CDTF">2026-10-26T04:12:01Z</dcterms:modified>
  <cp:category/>
</cp:coreProperties>
</file>